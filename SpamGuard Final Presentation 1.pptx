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5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87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masc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57200"/>
            <a:ext cx="3749040" cy="21305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48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SPAMGUARD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590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RECAP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reads a message and says: spam or safe?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2560320" cy="0"/>
          </a:xfrm>
          <a:prstGeom prst="line">
            <a:avLst/>
          </a:prstGeom>
          <a:noFill/>
          <a:ln w="952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5720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090672"/>
            <a:ext cx="2560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wastes time and can steal money and personal info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filters like Gmail are a black box, so students cannot learn from them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small, open one you can follow step by step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2697480"/>
            <a:ext cx="2560320" cy="0"/>
          </a:xfrm>
          <a:prstGeom prst="line">
            <a:avLst/>
          </a:prstGeom>
          <a:noFill/>
          <a:ln w="952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29184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3090672"/>
            <a:ext cx="2560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with </a:t>
            </a:r>
            <a:r>
              <a:rPr lang="en-US" sz="1050" dirty="0" err="1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atleast</a:t>
            </a: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90% confidence accuracy on unseen </a:t>
            </a:r>
            <a:r>
              <a:rPr lang="en-US" sz="1050" dirty="0" err="1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message, get spam or safe plus a confidence score in under 5 seconds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in the model, final report and write-up by end of September 2026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2697480"/>
            <a:ext cx="2560320" cy="0"/>
          </a:xfrm>
          <a:prstGeom prst="line">
            <a:avLst/>
          </a:prstGeom>
          <a:noFill/>
          <a:ln w="952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12648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PRESENTATION 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3090672"/>
            <a:ext cx="2560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email (Enron-style), not SMS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Naive Bayes types compared( </a:t>
            </a:r>
            <a:r>
              <a:rPr lang="en-US" sz="1050" dirty="0" err="1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MultinomialNB</a:t>
            </a: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050" dirty="0" err="1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BernoulliNB</a:t>
            </a: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fits on training data only to avoid test set leakage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modelling notebooks complete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 |  PRESENTATION 2  |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D3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PLAN: PLANNED VS ACTUAL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 |  PRESENTATION 2  |  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0972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639312" y="10972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18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352544" y="10972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065776" y="10972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WK4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779008" y="10972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WK5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8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0972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WK6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15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0972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WK7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918704" y="10972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29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57200" y="1508760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and data check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80944" y="1572768"/>
            <a:ext cx="603504" cy="100584"/>
          </a:xfrm>
          <a:prstGeom prst="rect">
            <a:avLst/>
          </a:prstGeom>
          <a:solidFill>
            <a:srgbClr val="B9AD97"/>
          </a:solidFill>
          <a:ln w="12700">
            <a:solidFill>
              <a:srgbClr val="B9A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80944" y="1709928"/>
            <a:ext cx="603504" cy="10058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1865376"/>
            <a:ext cx="822960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7200" y="1865376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94176" y="1929384"/>
            <a:ext cx="603504" cy="100584"/>
          </a:xfrm>
          <a:prstGeom prst="rect">
            <a:avLst/>
          </a:prstGeom>
          <a:solidFill>
            <a:srgbClr val="B9AD97"/>
          </a:solidFill>
          <a:ln w="12700">
            <a:solidFill>
              <a:srgbClr val="B9A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94176" y="2066544"/>
            <a:ext cx="603504" cy="10058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221992"/>
            <a:ext cx="822960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2221992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words into numbers (TF-IDF)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07408" y="2286000"/>
            <a:ext cx="603504" cy="100584"/>
          </a:xfrm>
          <a:prstGeom prst="rect">
            <a:avLst/>
          </a:prstGeom>
          <a:solidFill>
            <a:srgbClr val="B9AD97"/>
          </a:solidFill>
          <a:ln w="12700">
            <a:solidFill>
              <a:srgbClr val="B9A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07408" y="2423160"/>
            <a:ext cx="603504" cy="10058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2578608"/>
            <a:ext cx="822960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7200" y="2578608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2642616"/>
            <a:ext cx="603504" cy="100584"/>
          </a:xfrm>
          <a:prstGeom prst="rect">
            <a:avLst/>
          </a:prstGeom>
          <a:solidFill>
            <a:srgbClr val="B9AD97"/>
          </a:solidFill>
          <a:ln w="12700">
            <a:solidFill>
              <a:srgbClr val="B9A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120640" y="2779776"/>
            <a:ext cx="603504" cy="10058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2935224"/>
            <a:ext cx="822960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7200" y="2935224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improve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33872" y="2999232"/>
            <a:ext cx="603504" cy="100584"/>
          </a:xfrm>
          <a:prstGeom prst="rect">
            <a:avLst/>
          </a:prstGeom>
          <a:solidFill>
            <a:srgbClr val="B9AD97"/>
          </a:solidFill>
          <a:ln w="12700">
            <a:solidFill>
              <a:srgbClr val="B9A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833872" y="3136392"/>
            <a:ext cx="603504" cy="10058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57200" y="3291840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interface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47104" y="3355848"/>
            <a:ext cx="603504" cy="100584"/>
          </a:xfrm>
          <a:prstGeom prst="rect">
            <a:avLst/>
          </a:prstGeom>
          <a:solidFill>
            <a:srgbClr val="B9AD97"/>
          </a:solidFill>
          <a:ln w="12700">
            <a:solidFill>
              <a:srgbClr val="B9A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47104" y="3493008"/>
            <a:ext cx="603504" cy="10058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60336" y="3493008"/>
            <a:ext cx="603504" cy="10058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3648456"/>
            <a:ext cx="822960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457200" y="3648456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 and report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60336" y="3712464"/>
            <a:ext cx="603504" cy="100584"/>
          </a:xfrm>
          <a:prstGeom prst="rect">
            <a:avLst/>
          </a:prstGeom>
          <a:solidFill>
            <a:srgbClr val="B9AD97"/>
          </a:solidFill>
          <a:ln w="12700">
            <a:solidFill>
              <a:srgbClr val="B9A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60336" y="3849624"/>
            <a:ext cx="603504" cy="10058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" y="4005072"/>
            <a:ext cx="822960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57200" y="4005072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73568" y="4069080"/>
            <a:ext cx="603504" cy="100584"/>
          </a:xfrm>
          <a:prstGeom prst="rect">
            <a:avLst/>
          </a:prstGeom>
          <a:solidFill>
            <a:srgbClr val="B9AD97"/>
          </a:solidFill>
          <a:ln w="12700">
            <a:solidFill>
              <a:srgbClr val="B9A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" y="4361688"/>
            <a:ext cx="822960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" y="4544568"/>
            <a:ext cx="274320" cy="100584"/>
          </a:xfrm>
          <a:prstGeom prst="rect">
            <a:avLst/>
          </a:prstGeom>
          <a:solidFill>
            <a:srgbClr val="B9AD97"/>
          </a:solidFill>
          <a:ln w="12700">
            <a:solidFill>
              <a:srgbClr val="B9A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804672" y="4489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737360" y="4544568"/>
            <a:ext cx="274320" cy="10058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2084832" y="4489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017520" y="4544568"/>
            <a:ext cx="274320" cy="10058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3364992" y="4489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448970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 and interface are done. Final testing and report are next.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METHODOLOGY: CRISP-DM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SDLC model: six steps like a recipe, and we can go back a step when needed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 |  PRESENTATION 2  | 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5860" y="1325880"/>
            <a:ext cx="1325880" cy="132588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348740" y="1325880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90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6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63140" y="1325880"/>
            <a:ext cx="1325880" cy="132588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446020" y="1325880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90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6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60420" y="1325880"/>
            <a:ext cx="1325880" cy="132588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43300" y="1325880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90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6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57700" y="1325880"/>
            <a:ext cx="1325880" cy="132588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40580" y="1325880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90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6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54980" y="1325880"/>
            <a:ext cx="1325880" cy="132588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737860" y="1325880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90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6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Complete*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52260" y="1325880"/>
            <a:ext cx="1325880" cy="1325880"/>
          </a:xfrm>
          <a:prstGeom prst="ellipse">
            <a:avLst/>
          </a:prstGeom>
          <a:solidFill>
            <a:srgbClr val="DDD3BF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5140" y="1325880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16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952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7200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CRISP-DM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10712"/>
            <a:ext cx="38404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clear steps, well documented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short, seven-week project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maps to a deliverable notebook or artefact 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ITERATIONS  SO FAR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410712"/>
            <a:ext cx="40233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looped back to business understanding when the dataset turned out to be email not SMS 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how the model learns from the data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*Final scores confirmed from the latest run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D3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REQUIREMENTS AND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version: data sources, cleaning and EDA findings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 |  PRESENTATION 2  | 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8229600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280160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7548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+ spam label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47088" y="1280160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84708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1783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no punctuation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18688" y="1280160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21868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1783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learn, 20% test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90288" y="1280160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9028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783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numbers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61888" y="1280160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96188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783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or safe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33488" y="1280160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3348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783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+ interface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90%+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063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data source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364992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spam or safe, with a confidence score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under 5 seconds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public email dataset (subject, message, label)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2606040"/>
            <a:ext cx="0" cy="2103120"/>
          </a:xfrm>
          <a:prstGeom prst="line">
            <a:avLst/>
          </a:prstGeom>
          <a:noFill/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29184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33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3063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3364992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messages removed (33 duplicates dropped)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text or spam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empty messages after cleaning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no punctuation or numbers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2606040"/>
            <a:ext cx="0" cy="2103120"/>
          </a:xfrm>
          <a:prstGeom prst="line">
            <a:avLst/>
          </a:prstGeom>
          <a:noFill/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12648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76 / 24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3063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3364992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vs spam split (%). About 76% safe and 24% spam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is shorter but uses more "!"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mail is full of Enron names, so the model may learn "Enron mail“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words : free, money, click , business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 and tools, and why they were chosen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 |  PRESENTATION 2  | 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25272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Jupyter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read and run; every step can be explained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Notebook-based workflow makes every ML step visible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57200" cy="45720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634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85232" y="125272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load and clean data quickly, like a spreadsheet in code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212140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words into numbers and trains Naive Bayes. I didn’t have to build them from scratch.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212140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seaborn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charts that show what is in the data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299008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trained model so the app can use it instantly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57200" cy="45720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6634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85232" y="299008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version the work safe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" y="38587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message and get spam or safe, which is what a normal user needs.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63440" y="3886200"/>
            <a:ext cx="457200" cy="45720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6634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85232" y="38587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D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only ( Naïve Bayes)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B9A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is fast, simple and works well for spam ,deep learning is out of scope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D3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IMPLEMENTATION EVIDENCE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walkthrough, live demo and repository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 |  PRESENTATION 2  | 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120640" cy="3520440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1298448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split first, then learn the words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df['clean_text'], df['spam'],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test_size=0.2, stratify=df['spam'],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 = TfidfVectorizer(stop_words='english',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min_df=5, max_df=0.9, max_features=5000)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 = tfidf.fit_transform(X_tr)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Xte = tfidf.transform(X_te)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train two kinds of Naive Bayes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clf in (MultinomialNB(), BernoulliNB()):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clf.fit(Xtr, y_tr)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check a brand new message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predict_message(raw):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tfidf.transform([clean_text(raw)])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clf.predict_proba(v)[0]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('spam' if p[1] &gt; .5 else 'safe'), max(p)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852160" y="1188720"/>
            <a:ext cx="2834640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852160" y="1280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 LINK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581912"/>
            <a:ext cx="2834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https://github.com/faith-sikhosana/Special-Topics.git</a:t>
            </a:r>
          </a:p>
        </p:txBody>
      </p:sp>
      <p:sp>
        <p:nvSpPr>
          <p:cNvPr id="11" name="Shape 9"/>
          <p:cNvSpPr/>
          <p:nvPr/>
        </p:nvSpPr>
        <p:spPr>
          <a:xfrm>
            <a:off x="5852160" y="2331720"/>
            <a:ext cx="2834640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852160" y="2423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WALKTHROUGH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724912"/>
            <a:ext cx="28346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Type/paste a message it will tell you whether spam or safe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cleans it and turns it into numbers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spam or safe, with a confidence score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 spamguard_model.joblib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D3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TESTING AND OUTPUTS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and baseline comparison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 |  PRESENTATION 2  |  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76%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a filter that always says "safe"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143000"/>
            <a:ext cx="0" cy="1051560"/>
          </a:xfrm>
          <a:prstGeom prst="line">
            <a:avLst/>
          </a:prstGeom>
          <a:noFill/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788920" y="1097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8590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on unseen messages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0" cy="1051560"/>
          </a:xfrm>
          <a:prstGeom prst="line">
            <a:avLst/>
          </a:prstGeom>
          <a:noFill/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12080" y="10972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20% test set, same spam share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per model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spam and one work message tried by hand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studied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28453"/>
              </p:ext>
            </p:extLst>
          </p:nvPr>
        </p:nvGraphicFramePr>
        <p:xfrm>
          <a:off x="457200" y="251460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(always safe)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MultinomialNB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BernoulliNB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98.75</a:t>
                      </a: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D3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CHALLENGES AND RISKS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wrong, how it was handled and what is left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 |  PRESENTATION 2  |  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570255"/>
              </p:ext>
            </p:extLst>
          </p:nvPr>
        </p:nvGraphicFramePr>
        <p:xfrm>
          <a:off x="430924" y="1050158"/>
          <a:ext cx="8408277" cy="3406227"/>
        </p:xfrm>
        <a:graphic>
          <a:graphicData uri="http://schemas.openxmlformats.org/drawingml/2006/table">
            <a:tbl>
              <a:tblPr/>
              <a:tblGrid>
                <a:gridCol w="2727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1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5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WENT WRONG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WAS HANDLED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7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set isn’t what I originally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planning on documenting it as a limit  in the final report and I cleaned the text to reduce noise before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The model might learn "this is an internal Enron email" instead of a general idea of "safe." It could fail on real-world safe emails from outside Enron.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safe than spam 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I stopped relying on accuracy alone. I reported Precision, Recall, and F1, and I compared my model against an "always safe" baseline to prove it actually catches spam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The model could just guess "safe" every time and still get 76% accuracy. I could fool myself into thinking it's good when it's useless.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I split the data first, then fit TF-IDF only on the training set, then transformed the test set separately. My final scores are honest.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D3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3232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NEXT STEPS BEFORE PRESENTATION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left before the final presentation and report submission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SPAMGUARD  |  PRESENTATION 2  | 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587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" y="1901952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548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 final scores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notebook and confirm the best model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02 October 2026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78608" y="1901952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57860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23160" y="2103120"/>
            <a:ext cx="0" cy="1737360"/>
          </a:xfrm>
          <a:prstGeom prst="line">
            <a:avLst/>
          </a:prstGeom>
          <a:noFill/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56032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interface / Advance the interface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 spam and safe messages; check it answers in under 5 seconds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01 October 2026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81728" y="1901952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68172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26280" y="2103120"/>
            <a:ext cx="0" cy="1737360"/>
          </a:xfrm>
          <a:prstGeom prst="line">
            <a:avLst/>
          </a:prstGeom>
          <a:noFill/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66344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report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dataset note and limits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03 October 2026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84848" y="1901952"/>
            <a:ext cx="402336" cy="40233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78484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3B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2103120"/>
            <a:ext cx="0" cy="1737360"/>
          </a:xfrm>
          <a:prstGeom prst="line">
            <a:avLst/>
          </a:prstGeom>
          <a:noFill/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76656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 and hand-in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demo, Git link, model and report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05 October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1344</Words>
  <Application>Microsoft Office PowerPoint</Application>
  <PresentationFormat>On-screen Show (16:9)</PresentationFormat>
  <Paragraphs>251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Nokwanda Sikhosana</cp:lastModifiedBy>
  <cp:revision>6</cp:revision>
  <dcterms:created xsi:type="dcterms:W3CDTF">2026-09-30T01:17:40Z</dcterms:created>
  <dcterms:modified xsi:type="dcterms:W3CDTF">2026-10-02T13:15:11Z</dcterms:modified>
</cp:coreProperties>
</file>